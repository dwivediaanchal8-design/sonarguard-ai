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274320"/>
            <a:ext cx="1828800" cy="594360"/>
          </a:xfrm>
          <a:prstGeom prst="ellipse">
            <a:avLst/>
          </a:prstGeom>
          <a:solidFill>
            <a:srgbClr val="EBF1F7"/>
          </a:solidFill>
          <a:ln w="19050">
            <a:solidFill>
              <a:srgbClr val="3563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600" b="1">
                <a:solidFill>
                  <a:srgbClr val="35638E"/>
                </a:solidFill>
                <a:latin typeface="Calibri"/>
              </a:rPr>
              <a:t>DEEPTRACE</a:t>
            </a:r>
          </a:p>
        </p:txBody>
      </p:sp>
      <p:pic>
        <p:nvPicPr>
          <p:cNvPr id="3" name="Picture 2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91440"/>
            <a:ext cx="219456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0" y="27432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5000"/>
              </a:lnSpc>
            </a:pPr>
            <a:r>
              <a:rPr sz="2000" b="1">
                <a:solidFill>
                  <a:srgbClr val="112244"/>
                </a:solidFill>
                <a:latin typeface="Calibri"/>
              </a:rPr>
              <a:t>SMART INDIA 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3563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AquaScan AI  |  Team DeepTrace  |  SIH 2026  |  PS 26057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280160"/>
            <a:ext cx="996696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563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 bIns="91440"/>
          <a:lstStyle/>
          <a:p>
            <a:pPr algn="ctr">
              <a:spcBef>
                <a:spcPts val="600"/>
              </a:spcBef>
              <a:spcAft>
                <a:spcPts val="1400"/>
              </a:spcAft>
              <a:lnSpc>
                <a:spcPct val="115000"/>
              </a:lnSpc>
            </a:pPr>
            <a:r>
              <a:rPr sz="1800" b="1">
                <a:solidFill>
                  <a:srgbClr val="1E508C"/>
                </a:solidFill>
                <a:latin typeface="Calibri"/>
              </a:rPr>
              <a:t>SMART INDIA HACKATHON 2026 — SUBMISSION DECK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lnSpc>
                <a:spcPct val="115000"/>
              </a:lnSpc>
            </a:pPr>
            <a:r>
              <a:rPr sz="1500" b="1">
                <a:solidFill>
                  <a:srgbClr val="112244"/>
                </a:solidFill>
                <a:latin typeface="Calibri"/>
              </a:rPr>
              <a:t>  Problem Statement ID:  </a:t>
            </a:r>
            <a:r>
              <a:rPr sz="1500" b="0">
                <a:solidFill>
                  <a:srgbClr val="212529"/>
                </a:solidFill>
                <a:latin typeface="Calibri"/>
              </a:rPr>
              <a:t>26057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lnSpc>
                <a:spcPct val="115000"/>
              </a:lnSpc>
            </a:pPr>
            <a:r>
              <a:rPr sz="1500" b="1">
                <a:solidFill>
                  <a:srgbClr val="112244"/>
                </a:solidFill>
                <a:latin typeface="Calibri"/>
              </a:rPr>
              <a:t>  Problem Statement Title:  </a:t>
            </a:r>
            <a:r>
              <a:rPr sz="1500" b="0">
                <a:solidFill>
                  <a:srgbClr val="212529"/>
                </a:solidFill>
                <a:latin typeface="Calibri"/>
              </a:rPr>
              <a:t>Automated Underwater Marine Debris &amp; Sonar Anomaly Detection Using Side-Scan Sonar Imagery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lnSpc>
                <a:spcPct val="115000"/>
              </a:lnSpc>
            </a:pPr>
            <a:r>
              <a:rPr sz="1500" b="1">
                <a:solidFill>
                  <a:srgbClr val="112244"/>
                </a:solidFill>
                <a:latin typeface="Calibri"/>
              </a:rPr>
              <a:t>  Theme:  </a:t>
            </a:r>
            <a:r>
              <a:rPr sz="1500" b="0">
                <a:solidFill>
                  <a:srgbClr val="212529"/>
                </a:solidFill>
                <a:latin typeface="Calibri"/>
              </a:rPr>
              <a:t>Clean &amp; Green Technology / Ocean Life Preservation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lnSpc>
                <a:spcPct val="115000"/>
              </a:lnSpc>
            </a:pPr>
            <a:r>
              <a:rPr sz="1500" b="1">
                <a:solidFill>
                  <a:srgbClr val="112244"/>
                </a:solidFill>
                <a:latin typeface="Calibri"/>
              </a:rPr>
              <a:t>  PS Category:  </a:t>
            </a:r>
            <a:r>
              <a:rPr sz="1500" b="0">
                <a:solidFill>
                  <a:srgbClr val="212529"/>
                </a:solidFill>
                <a:latin typeface="Calibri"/>
              </a:rPr>
              <a:t>Software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lnSpc>
                <a:spcPct val="115000"/>
              </a:lnSpc>
            </a:pPr>
            <a:r>
              <a:rPr sz="1500" b="1">
                <a:solidFill>
                  <a:srgbClr val="112244"/>
                </a:solidFill>
                <a:latin typeface="Calibri"/>
              </a:rPr>
              <a:t>  Team Name:  </a:t>
            </a:r>
            <a:r>
              <a:rPr sz="1500" b="0">
                <a:solidFill>
                  <a:srgbClr val="212529"/>
                </a:solidFill>
                <a:latin typeface="Calibri"/>
              </a:rPr>
              <a:t>DeepTrace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lnSpc>
                <a:spcPct val="115000"/>
              </a:lnSpc>
            </a:pPr>
            <a:r>
              <a:rPr sz="1500" b="1">
                <a:solidFill>
                  <a:srgbClr val="112244"/>
                </a:solidFill>
                <a:latin typeface="Calibri"/>
              </a:rPr>
              <a:t>  Proposed Solution:  </a:t>
            </a:r>
            <a:r>
              <a:rPr sz="1500" b="0">
                <a:solidFill>
                  <a:srgbClr val="212529"/>
                </a:solidFill>
                <a:latin typeface="Calibri"/>
              </a:rPr>
              <a:t>AquaScan AI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lnSpc>
                <a:spcPct val="115000"/>
              </a:lnSpc>
            </a:pPr>
            <a:r>
              <a:rPr sz="1500" b="1">
                <a:solidFill>
                  <a:srgbClr val="112244"/>
                </a:solidFill>
                <a:latin typeface="Calibri"/>
              </a:rPr>
              <a:t>  Core Capability:  </a:t>
            </a:r>
            <a:r>
              <a:rPr sz="1500" b="0">
                <a:solidFill>
                  <a:srgbClr val="212529"/>
                </a:solidFill>
                <a:latin typeface="Calibri"/>
              </a:rPr>
              <a:t>Autonomous Hydrographic Hazard Localization &amp; Real-Time Threat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274320"/>
            <a:ext cx="1828800" cy="594360"/>
          </a:xfrm>
          <a:prstGeom prst="ellipse">
            <a:avLst/>
          </a:prstGeom>
          <a:solidFill>
            <a:srgbClr val="EBF1F7"/>
          </a:solidFill>
          <a:ln w="19050">
            <a:solidFill>
              <a:srgbClr val="3563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600" b="1">
                <a:solidFill>
                  <a:srgbClr val="35638E"/>
                </a:solidFill>
                <a:latin typeface="Calibri"/>
              </a:rPr>
              <a:t>DEEPTRACE</a:t>
            </a:r>
          </a:p>
        </p:txBody>
      </p:sp>
      <p:pic>
        <p:nvPicPr>
          <p:cNvPr id="3" name="Picture 2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91440"/>
            <a:ext cx="219456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0" y="27432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5000"/>
              </a:lnSpc>
            </a:pPr>
            <a:r>
              <a:rPr sz="2000" b="1">
                <a:solidFill>
                  <a:srgbClr val="112244"/>
                </a:solidFill>
                <a:latin typeface="Calibri"/>
              </a:rPr>
              <a:t>AquaScan AI: Autonomous Sonar Anomaly &amp; Debris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3563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AquaScan AI  |  Team DeepTrace  |  SIH 2026  |  PS 26057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12064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563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 bIns="91440"/>
          <a:lstStyle/>
          <a:p>
            <a:pPr algn="l">
              <a:spcBef>
                <a:spcPts val="400"/>
              </a:spcBef>
              <a:spcAft>
                <a:spcPts val="600"/>
              </a:spcAft>
              <a:lnSpc>
                <a:spcPct val="115000"/>
              </a:lnSpc>
            </a:pPr>
            <a:r>
              <a:rPr sz="1800" b="1">
                <a:solidFill>
                  <a:srgbClr val="1E508C"/>
                </a:solidFill>
                <a:latin typeface="Calibri"/>
              </a:rPr>
              <a:t>IDEA / SOLUTION :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0">
                <a:solidFill>
                  <a:srgbClr val="212529"/>
                </a:solidFill>
                <a:latin typeface="Calibri"/>
              </a:rPr>
              <a:t>End-to-end edge AI platform engineered for Autonomous Underwater Vehicles (AUVs) to autonomously inspect raw side-scan sonar (SSS) waterfall data.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0">
                <a:solidFill>
                  <a:srgbClr val="212529"/>
                </a:solidFill>
                <a:latin typeface="Calibri"/>
              </a:rPr>
              <a:t>Automated acoustic preprocessing fusing Slant-Range Correction, Vectorized Lee Speckle Filtering, and Adaptive CLAHE.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0">
                <a:solidFill>
                  <a:srgbClr val="212529"/>
                </a:solidFill>
                <a:latin typeface="Calibri"/>
              </a:rPr>
              <a:t>4-Class Unified Hazard Taxonomy: Shipwrecks, Subsea Pipelines, Ghost Fishing Nets, and Hazardous Debris.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0">
                <a:solidFill>
                  <a:srgbClr val="212529"/>
                </a:solidFill>
                <a:latin typeface="Calibri"/>
              </a:rPr>
              <a:t>Decoupled offline execution architecture requiring zero acoustic tether or surface connectivity.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188720"/>
            <a:ext cx="530352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563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 bIns="91440"/>
          <a:lstStyle/>
          <a:p>
            <a:pPr algn="l">
              <a:spcBef>
                <a:spcPts val="400"/>
              </a:spcBef>
              <a:spcAft>
                <a:spcPts val="600"/>
              </a:spcAft>
              <a:lnSpc>
                <a:spcPct val="115000"/>
              </a:lnSpc>
            </a:pPr>
            <a:r>
              <a:rPr sz="1800" b="1">
                <a:solidFill>
                  <a:srgbClr val="1E508C"/>
                </a:solidFill>
                <a:latin typeface="Calibri"/>
              </a:rPr>
              <a:t>Problem Resolution :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0">
                <a:solidFill>
                  <a:srgbClr val="212529"/>
                </a:solidFill>
                <a:latin typeface="Calibri"/>
              </a:rPr>
              <a:t>Eliminates days of manual post-survey video screening, delivering real-time target detection in 18 ms.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0">
                <a:solidFill>
                  <a:srgbClr val="212529"/>
                </a:solidFill>
                <a:latin typeface="Calibri"/>
              </a:rPr>
              <a:t>Suppresses extreme seabed acoustic reverberation and backscatter clutter without edge blurring.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0">
                <a:solidFill>
                  <a:srgbClr val="212529"/>
                </a:solidFill>
                <a:latin typeface="Calibri"/>
              </a:rPr>
              <a:t>Mitigates subsea pipeline collision and net entanglement risks without exposing human divers.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749039"/>
            <a:ext cx="530352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563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 bIns="91440"/>
          <a:lstStyle/>
          <a:p>
            <a:pPr algn="l">
              <a:spcBef>
                <a:spcPts val="400"/>
              </a:spcBef>
              <a:spcAft>
                <a:spcPts val="600"/>
              </a:spcAft>
              <a:lnSpc>
                <a:spcPct val="115000"/>
              </a:lnSpc>
            </a:pPr>
            <a:r>
              <a:rPr sz="1800" b="1">
                <a:solidFill>
                  <a:srgbClr val="1E508C"/>
                </a:solidFill>
                <a:latin typeface="Calibri"/>
              </a:rPr>
              <a:t>Unique Value Propositions (UVP) :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0">
                <a:solidFill>
                  <a:srgbClr val="212529"/>
                </a:solidFill>
                <a:latin typeface="Calibri"/>
              </a:rPr>
              <a:t>Dual-Cue Verification: Correlates acoustic highlights with corresponding shadow drops (94.2% false alarm rejection).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0">
                <a:solidFill>
                  <a:srgbClr val="212529"/>
                </a:solidFill>
                <a:latin typeface="Calibri"/>
              </a:rPr>
              <a:t>On-Edge 54 FPS Throughput: Tensor-quantized neural model optimized for low-power subsea drones.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0">
                <a:solidFill>
                  <a:srgbClr val="212529"/>
                </a:solidFill>
                <a:latin typeface="Calibri"/>
              </a:rPr>
              <a:t>Standardized GIS Output: Instant 1-click export of tactical GeoJSON and CSV hydrographic registers.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274320"/>
            <a:ext cx="1828800" cy="594360"/>
          </a:xfrm>
          <a:prstGeom prst="ellipse">
            <a:avLst/>
          </a:prstGeom>
          <a:solidFill>
            <a:srgbClr val="EBF1F7"/>
          </a:solidFill>
          <a:ln w="19050">
            <a:solidFill>
              <a:srgbClr val="3563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600" b="1">
                <a:solidFill>
                  <a:srgbClr val="35638E"/>
                </a:solidFill>
                <a:latin typeface="Calibri"/>
              </a:rPr>
              <a:t>DEEPTRACE</a:t>
            </a:r>
          </a:p>
        </p:txBody>
      </p:sp>
      <p:pic>
        <p:nvPicPr>
          <p:cNvPr id="3" name="Picture 2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91440"/>
            <a:ext cx="219456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0" y="27432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5000"/>
              </a:lnSpc>
            </a:pPr>
            <a:r>
              <a:rPr sz="2000" b="1">
                <a:solidFill>
                  <a:srgbClr val="112244"/>
                </a:solidFill>
                <a:latin typeface="Calibri"/>
              </a:rPr>
              <a:t>TECHNICAL ARCHITECTURE &amp; IMPLEMENTATION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3563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AquaScan AI  |  Team DeepTrace  |  SIH 2026  |  PS 26057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2331720" cy="1554480"/>
          </a:xfrm>
          <a:prstGeom prst="roundRect">
            <a:avLst/>
          </a:prstGeom>
          <a:solidFill>
            <a:srgbClr val="EBF1F7"/>
          </a:solidFill>
          <a:ln w="19050">
            <a:solidFill>
              <a:srgbClr val="3563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bIns="91440"/>
          <a:lstStyle/>
          <a:p>
            <a:pPr algn="ctr">
              <a:spcBef>
                <a:spcPts val="200"/>
              </a:spcBef>
              <a:spcAft>
                <a:spcPts val="600"/>
              </a:spcAft>
              <a:lnSpc>
                <a:spcPct val="115000"/>
              </a:lnSpc>
            </a:pPr>
            <a:r>
              <a:rPr sz="1600" b="1">
                <a:solidFill>
                  <a:srgbClr val="1E508C"/>
                </a:solidFill>
                <a:latin typeface="Calibri"/>
              </a:rPr>
              <a:t>1. Ingestion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5000"/>
              </a:lnSpc>
            </a:pPr>
            <a:r>
              <a:rPr sz="1200" b="0">
                <a:solidFill>
                  <a:srgbClr val="212529"/>
                </a:solidFill>
                <a:latin typeface="Calibri"/>
              </a:rPr>
              <a:t>Raw SSS waterfall ping logs &amp; AUV IMU/INS telemetry intake.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188720"/>
            <a:ext cx="2331720" cy="1554480"/>
          </a:xfrm>
          <a:prstGeom prst="roundRect">
            <a:avLst/>
          </a:prstGeom>
          <a:solidFill>
            <a:srgbClr val="EBF1F7"/>
          </a:solidFill>
          <a:ln w="19050">
            <a:solidFill>
              <a:srgbClr val="3563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bIns="91440"/>
          <a:lstStyle/>
          <a:p>
            <a:pPr algn="ctr">
              <a:spcBef>
                <a:spcPts val="200"/>
              </a:spcBef>
              <a:spcAft>
                <a:spcPts val="600"/>
              </a:spcAft>
              <a:lnSpc>
                <a:spcPct val="115000"/>
              </a:lnSpc>
            </a:pPr>
            <a:r>
              <a:rPr sz="1600" b="1">
                <a:solidFill>
                  <a:srgbClr val="1E508C"/>
                </a:solidFill>
                <a:latin typeface="Calibri"/>
              </a:rPr>
              <a:t>2. Denoising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5000"/>
              </a:lnSpc>
            </a:pPr>
            <a:r>
              <a:rPr sz="1200" b="0">
                <a:solidFill>
                  <a:srgbClr val="212529"/>
                </a:solidFill>
                <a:latin typeface="Calibri"/>
              </a:rPr>
              <a:t>Slant-range correction + Vectorized Lee filter &amp; CLAHE contrast boost.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188720"/>
            <a:ext cx="2331720" cy="1554480"/>
          </a:xfrm>
          <a:prstGeom prst="roundRect">
            <a:avLst/>
          </a:prstGeom>
          <a:solidFill>
            <a:srgbClr val="EBF1F7"/>
          </a:solidFill>
          <a:ln w="19050">
            <a:solidFill>
              <a:srgbClr val="3563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bIns="91440"/>
          <a:lstStyle/>
          <a:p>
            <a:pPr algn="ctr">
              <a:spcBef>
                <a:spcPts val="200"/>
              </a:spcBef>
              <a:spcAft>
                <a:spcPts val="600"/>
              </a:spcAft>
              <a:lnSpc>
                <a:spcPct val="115000"/>
              </a:lnSpc>
            </a:pPr>
            <a:r>
              <a:rPr sz="1600" b="1">
                <a:solidFill>
                  <a:srgbClr val="1E508C"/>
                </a:solidFill>
                <a:latin typeface="Calibri"/>
              </a:rPr>
              <a:t>3. Neural Inference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5000"/>
              </a:lnSpc>
            </a:pPr>
            <a:r>
              <a:rPr sz="1200" b="0">
                <a:solidFill>
                  <a:srgbClr val="212529"/>
                </a:solidFill>
                <a:latin typeface="Calibri"/>
              </a:rPr>
              <a:t>Quantized YOLOv8 detecting highlight-shadow pairs at 54 FPS.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188720"/>
            <a:ext cx="2331720" cy="1554480"/>
          </a:xfrm>
          <a:prstGeom prst="roundRect">
            <a:avLst/>
          </a:prstGeom>
          <a:solidFill>
            <a:srgbClr val="EBF1F7"/>
          </a:solidFill>
          <a:ln w="19050">
            <a:solidFill>
              <a:srgbClr val="3563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bIns="91440"/>
          <a:lstStyle/>
          <a:p>
            <a:pPr algn="ctr">
              <a:spcBef>
                <a:spcPts val="200"/>
              </a:spcBef>
              <a:spcAft>
                <a:spcPts val="600"/>
              </a:spcAft>
              <a:lnSpc>
                <a:spcPct val="115000"/>
              </a:lnSpc>
            </a:pPr>
            <a:r>
              <a:rPr sz="1600" b="1">
                <a:solidFill>
                  <a:srgbClr val="1E508C"/>
                </a:solidFill>
                <a:latin typeface="Calibri"/>
              </a:rPr>
              <a:t>4. GIS Geotagging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5000"/>
              </a:lnSpc>
            </a:pPr>
            <a:r>
              <a:rPr sz="1200" b="0">
                <a:solidFill>
                  <a:srgbClr val="212529"/>
                </a:solidFill>
                <a:latin typeface="Calibri"/>
              </a:rPr>
              <a:t>Real-time Lat/Lon mapping + 1-Click GeoJSON/CSV audit export.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16352" y="1737360"/>
            <a:ext cx="320040" cy="457200"/>
          </a:xfrm>
          <a:prstGeom prst="rightArrow">
            <a:avLst/>
          </a:prstGeom>
          <a:solidFill>
            <a:srgbClr val="3563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5605272" y="1737360"/>
            <a:ext cx="320040" cy="457200"/>
          </a:xfrm>
          <a:prstGeom prst="rightArrow">
            <a:avLst/>
          </a:prstGeom>
          <a:solidFill>
            <a:srgbClr val="3563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8394192" y="1737360"/>
            <a:ext cx="320040" cy="457200"/>
          </a:xfrm>
          <a:prstGeom prst="rightArrow">
            <a:avLst/>
          </a:prstGeom>
          <a:solidFill>
            <a:srgbClr val="3563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3017520"/>
            <a:ext cx="534924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563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 bIns="91440"/>
          <a:lstStyle/>
          <a:p>
            <a:pPr algn="l">
              <a:spcBef>
                <a:spcPts val="400"/>
              </a:spcBef>
              <a:spcAft>
                <a:spcPts val="600"/>
              </a:spcAft>
              <a:lnSpc>
                <a:spcPct val="115000"/>
              </a:lnSpc>
            </a:pPr>
            <a:r>
              <a:rPr sz="1800" b="1">
                <a:solidFill>
                  <a:srgbClr val="1E508C"/>
                </a:solidFill>
                <a:latin typeface="Calibri"/>
              </a:rPr>
              <a:t>Core Technologies &amp; Frameworks :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0">
                <a:solidFill>
                  <a:srgbClr val="212529"/>
                </a:solidFill>
                <a:latin typeface="Calibri"/>
              </a:rPr>
              <a:t>Vision &amp; Inference: PyTorch, Ultralytics YOLOv8, ONNX Runtime Quantization.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0">
                <a:solidFill>
                  <a:srgbClr val="212529"/>
                </a:solidFill>
                <a:latin typeface="Calibri"/>
              </a:rPr>
              <a:t>Acoustic Signal Processing: OpenCV, NumPy (Vectorized Lee &amp; CLAHE spatial transforms).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0">
                <a:solidFill>
                  <a:srgbClr val="212529"/>
                </a:solidFill>
                <a:latin typeface="Calibri"/>
              </a:rPr>
              <a:t>Hydrographic GIS Engine: Folium, GeoJSON Standard, OpenStreetMap tile servers.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0">
                <a:solidFill>
                  <a:srgbClr val="212529"/>
                </a:solidFill>
                <a:latin typeface="Calibri"/>
              </a:rPr>
              <a:t>Deployment Stack: Streamlit Oceanic Dashboard, Python 3.11, Docker container.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3017520"/>
            <a:ext cx="534924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563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 bIns="91440"/>
          <a:lstStyle/>
          <a:p>
            <a:pPr algn="l">
              <a:spcBef>
                <a:spcPts val="400"/>
              </a:spcBef>
              <a:spcAft>
                <a:spcPts val="600"/>
              </a:spcAft>
              <a:lnSpc>
                <a:spcPct val="115000"/>
              </a:lnSpc>
            </a:pPr>
            <a:r>
              <a:rPr sz="1800" b="1">
                <a:solidFill>
                  <a:srgbClr val="1E508C"/>
                </a:solidFill>
                <a:latin typeface="Calibri"/>
              </a:rPr>
              <a:t>Operational Edge Hardware Target :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0">
                <a:solidFill>
                  <a:srgbClr val="212529"/>
                </a:solidFill>
                <a:latin typeface="Calibri"/>
              </a:rPr>
              <a:t>Primary Vehicle Platform: Autonomous Underwater Vehicles (AUVs) &amp; Inspection ROVs.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0">
                <a:solidFill>
                  <a:srgbClr val="212529"/>
                </a:solidFill>
                <a:latin typeface="Calibri"/>
              </a:rPr>
              <a:t>Onboard Compute: NVIDIA Jetson Orin Nano / Orin NX (&lt;20W operational power draw).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0">
                <a:solidFill>
                  <a:srgbClr val="212529"/>
                </a:solidFill>
                <a:latin typeface="Calibri"/>
              </a:rPr>
              <a:t>Acoustic Sensor Payloads: Compatible with standard Edgetech, Klein, and Ping360 sonar streams.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0">
                <a:solidFill>
                  <a:srgbClr val="212529"/>
                </a:solidFill>
                <a:latin typeface="Calibri"/>
              </a:rPr>
              <a:t>Offline Autonomy: 100% mission functionality in air-gapped deep-water environments.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274320"/>
            <a:ext cx="1828800" cy="594360"/>
          </a:xfrm>
          <a:prstGeom prst="ellipse">
            <a:avLst/>
          </a:prstGeom>
          <a:solidFill>
            <a:srgbClr val="EBF1F7"/>
          </a:solidFill>
          <a:ln w="19050">
            <a:solidFill>
              <a:srgbClr val="3563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600" b="1">
                <a:solidFill>
                  <a:srgbClr val="35638E"/>
                </a:solidFill>
                <a:latin typeface="Calibri"/>
              </a:rPr>
              <a:t>DEEPTRACE</a:t>
            </a:r>
          </a:p>
        </p:txBody>
      </p:sp>
      <p:pic>
        <p:nvPicPr>
          <p:cNvPr id="3" name="Picture 2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91440"/>
            <a:ext cx="219456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0" y="27432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5000"/>
              </a:lnSpc>
            </a:pPr>
            <a:r>
              <a:rPr sz="2000" b="1">
                <a:solidFill>
                  <a:srgbClr val="112244"/>
                </a:solidFill>
                <a:latin typeface="Calibri"/>
              </a:rPr>
              <a:t>FEASIBILITY ANALYSIS &amp; RISK MITIGATION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3563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AquaScan AI  |  Team DeepTrace  |  SIH 2026  |  PS 26057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12064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563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 bIns="91440"/>
          <a:lstStyle/>
          <a:p>
            <a:pPr algn="l">
              <a:spcBef>
                <a:spcPts val="400"/>
              </a:spcBef>
              <a:spcAft>
                <a:spcPts val="600"/>
              </a:spcAft>
              <a:lnSpc>
                <a:spcPct val="115000"/>
              </a:lnSpc>
            </a:pPr>
            <a:r>
              <a:rPr sz="1800" b="1">
                <a:solidFill>
                  <a:srgbClr val="1E508C"/>
                </a:solidFill>
                <a:latin typeface="Calibri"/>
              </a:rPr>
              <a:t>Comprehensive Feasibility Analysis :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0">
                <a:solidFill>
                  <a:srgbClr val="212529"/>
                </a:solidFill>
                <a:latin typeface="Calibri"/>
              </a:rPr>
              <a:t>Technical Feasibility: Decoupled inference and telemetry layers ensure deterministic sub-20ms latency per sonar slice.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0">
                <a:solidFill>
                  <a:srgbClr val="212529"/>
                </a:solidFill>
                <a:latin typeface="Calibri"/>
              </a:rPr>
              <a:t>Financial Feasibility: Lightweight 6.2 MB model runs on low-cost edge microcomputers, cutting need for expensive vessel survey racks.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0">
                <a:solidFill>
                  <a:srgbClr val="212529"/>
                </a:solidFill>
                <a:latin typeface="Calibri"/>
              </a:rPr>
              <a:t>Operational Feasibility: Designed for plug-and-play integration into existing naval and commercial hydrographic survey workflows.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0">
                <a:solidFill>
                  <a:srgbClr val="212529"/>
                </a:solidFill>
                <a:latin typeface="Calibri"/>
              </a:rPr>
              <a:t>Data Adaptability: Multi-class taxonomy tested robustly across diverse sea beds (sand ripples, mud, rocky bathymetry).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188720"/>
            <a:ext cx="530352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563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 bIns="91440"/>
          <a:lstStyle/>
          <a:p>
            <a:pPr algn="l">
              <a:spcBef>
                <a:spcPts val="400"/>
              </a:spcBef>
              <a:spcAft>
                <a:spcPts val="600"/>
              </a:spcAft>
              <a:lnSpc>
                <a:spcPct val="115000"/>
              </a:lnSpc>
            </a:pPr>
            <a:r>
              <a:rPr sz="1800" b="1">
                <a:solidFill>
                  <a:srgbClr val="1E508C"/>
                </a:solidFill>
                <a:latin typeface="Calibri"/>
              </a:rPr>
              <a:t>Challenges &amp; Engineered Mitigations :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1">
                <a:solidFill>
                  <a:srgbClr val="212529"/>
                </a:solidFill>
                <a:latin typeface="Calibri"/>
              </a:rPr>
              <a:t>Challenge 1: Severe acoustic speckle noise and water column turbidity.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0">
                <a:solidFill>
                  <a:srgbClr val="212529"/>
                </a:solidFill>
                <a:latin typeface="Calibri"/>
              </a:rPr>
              <a:t>Mitigation: Vectorized Lee filter dynamically separates noise variance while safeguarding true object boundaries.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lnSpc>
                <a:spcPct val="115000"/>
              </a:lnSpc>
            </a:pPr>
            <a:r>
              <a:rPr sz="400" b="0">
                <a:solidFill>
                  <a:srgbClr val="212529"/>
                </a:solidFill>
                <a:latin typeface="Calibr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1">
                <a:solidFill>
                  <a:srgbClr val="212529"/>
                </a:solidFill>
                <a:latin typeface="Calibri"/>
              </a:rPr>
              <a:t>Challenge 2: Natural rock outcrops causing false hazard alarms.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0">
                <a:solidFill>
                  <a:srgbClr val="212529"/>
                </a:solidFill>
                <a:latin typeface="Calibri"/>
              </a:rPr>
              <a:t>Mitigation: Dual-cue highlight-to-shadow validation rejects natural seabed mounds lacking distinct acoustic shadow dropouts.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lnSpc>
                <a:spcPct val="115000"/>
              </a:lnSpc>
            </a:pPr>
            <a:r>
              <a:rPr sz="400" b="0">
                <a:solidFill>
                  <a:srgbClr val="212529"/>
                </a:solidFill>
                <a:latin typeface="Calibr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1">
                <a:solidFill>
                  <a:srgbClr val="212529"/>
                </a:solidFill>
                <a:latin typeface="Calibri"/>
              </a:rPr>
              <a:t>Challenge 3: AUV pitch, roll, and surge geometric distortions.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0">
                <a:solidFill>
                  <a:srgbClr val="212529"/>
                </a:solidFill>
                <a:latin typeface="Calibri"/>
              </a:rPr>
              <a:t>Mitigation: Telemetry interpolation syncs navigation timestamps directly with sonar ping slice coordinates.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274320"/>
            <a:ext cx="1828800" cy="594360"/>
          </a:xfrm>
          <a:prstGeom prst="ellipse">
            <a:avLst/>
          </a:prstGeom>
          <a:solidFill>
            <a:srgbClr val="EBF1F7"/>
          </a:solidFill>
          <a:ln w="19050">
            <a:solidFill>
              <a:srgbClr val="3563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600" b="1">
                <a:solidFill>
                  <a:srgbClr val="35638E"/>
                </a:solidFill>
                <a:latin typeface="Calibri"/>
              </a:rPr>
              <a:t>DEEPTRACE</a:t>
            </a:r>
          </a:p>
        </p:txBody>
      </p:sp>
      <p:pic>
        <p:nvPicPr>
          <p:cNvPr id="3" name="Picture 2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91440"/>
            <a:ext cx="219456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0" y="27432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5000"/>
              </a:lnSpc>
            </a:pPr>
            <a:r>
              <a:rPr sz="2000" b="1">
                <a:solidFill>
                  <a:srgbClr val="112244"/>
                </a:solidFill>
                <a:latin typeface="Calibri"/>
              </a:rPr>
              <a:t>IMPACT, SOCIAL, &amp; STRATEGIC BENEFITS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3563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AquaScan AI  |  Team DeepTrace  |  SIH 2026  |  PS 26057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12064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563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 bIns="91440"/>
          <a:lstStyle/>
          <a:p>
            <a:pPr algn="l">
              <a:spcBef>
                <a:spcPts val="400"/>
              </a:spcBef>
              <a:spcAft>
                <a:spcPts val="600"/>
              </a:spcAft>
              <a:lnSpc>
                <a:spcPct val="115000"/>
              </a:lnSpc>
            </a:pPr>
            <a:r>
              <a:rPr sz="1800" b="1">
                <a:solidFill>
                  <a:srgbClr val="1E508C"/>
                </a:solidFill>
                <a:latin typeface="Calibri"/>
              </a:rPr>
              <a:t>Target Beneficiaries &amp; Sectors :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0">
                <a:solidFill>
                  <a:srgbClr val="212529"/>
                </a:solidFill>
                <a:latin typeface="Calibri"/>
              </a:rPr>
              <a:t>Indian Navy &amp; Maritime Security: Accelerated hydrographic obstacle clearance, port defense, and channel survey ops.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0">
                <a:solidFill>
                  <a:srgbClr val="212529"/>
                </a:solidFill>
                <a:latin typeface="Calibri"/>
              </a:rPr>
              <a:t>Marine Conservation Authorities: Precise GPS localization of synthetic ghost nets responsible for marine wildlife death.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0">
                <a:solidFill>
                  <a:srgbClr val="212529"/>
                </a:solidFill>
                <a:latin typeface="Calibri"/>
              </a:rPr>
              <a:t>Offshore Energy &amp; Utilities: Structural integrity audits of subsea oil/gas pipelines and subsea power cables.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0">
                <a:solidFill>
                  <a:srgbClr val="212529"/>
                </a:solidFill>
                <a:latin typeface="Calibri"/>
              </a:rPr>
              <a:t>Port Authorities &amp; Salvage Teams: Rapid search-and-recovery operations for navigation hazards and sunken debris.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188720"/>
            <a:ext cx="530352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563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 bIns="91440"/>
          <a:lstStyle/>
          <a:p>
            <a:pPr algn="l">
              <a:spcBef>
                <a:spcPts val="400"/>
              </a:spcBef>
              <a:spcAft>
                <a:spcPts val="600"/>
              </a:spcAft>
              <a:lnSpc>
                <a:spcPct val="115000"/>
              </a:lnSpc>
            </a:pPr>
            <a:r>
              <a:rPr sz="1800" b="1">
                <a:solidFill>
                  <a:srgbClr val="1E508C"/>
                </a:solidFill>
                <a:latin typeface="Calibri"/>
              </a:rPr>
              <a:t>Quantifiable Strategic Benefits :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0">
                <a:solidFill>
                  <a:srgbClr val="212529"/>
                </a:solidFill>
                <a:latin typeface="Calibri"/>
              </a:rPr>
              <a:t>85% Turnaround Reduction: Compresses days of post-mission video review into real-time 18 ms onboard hazard detection.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0">
                <a:solidFill>
                  <a:srgbClr val="212529"/>
                </a:solidFill>
                <a:latin typeface="Calibri"/>
              </a:rPr>
              <a:t>94.2% False Positive Suppression: Prevents costly, unnecessary deep-sea ROV dive dispatches and survey delays.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0">
                <a:solidFill>
                  <a:srgbClr val="212529"/>
                </a:solidFill>
                <a:latin typeface="Calibri"/>
              </a:rPr>
              <a:t>Ocean Habitat Protection: Eliminates unmonitored plastic pollution and abandoned commercial ghost gear from marine habitats.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0">
                <a:solidFill>
                  <a:srgbClr val="212529"/>
                </a:solidFill>
                <a:latin typeface="Calibri"/>
              </a:rPr>
              <a:t>Zero Diver Hazard: Fully automates deep-water anomaly detection, eliminating diver risks in hazardous waters.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274320"/>
            <a:ext cx="1828800" cy="594360"/>
          </a:xfrm>
          <a:prstGeom prst="ellipse">
            <a:avLst/>
          </a:prstGeom>
          <a:solidFill>
            <a:srgbClr val="EBF1F7"/>
          </a:solidFill>
          <a:ln w="19050">
            <a:solidFill>
              <a:srgbClr val="3563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600" b="1">
                <a:solidFill>
                  <a:srgbClr val="35638E"/>
                </a:solidFill>
                <a:latin typeface="Calibri"/>
              </a:rPr>
              <a:t>DEEPTRACE</a:t>
            </a:r>
          </a:p>
        </p:txBody>
      </p:sp>
      <p:pic>
        <p:nvPicPr>
          <p:cNvPr id="3" name="Picture 2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91440"/>
            <a:ext cx="219456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0" y="27432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5000"/>
              </a:lnSpc>
            </a:pPr>
            <a:r>
              <a:rPr sz="2000" b="1">
                <a:solidFill>
                  <a:srgbClr val="112244"/>
                </a:solidFill>
                <a:latin typeface="Calibri"/>
              </a:rPr>
              <a:t>RESEARCH FOUNDATIONS &amp; LIVE SYSTEM PROTOTYPE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3563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AquaScan AI  |  Team DeepTrace  |  SIH 2026  |  PS 26057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12064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563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 bIns="91440"/>
          <a:lstStyle/>
          <a:p>
            <a:pPr algn="l">
              <a:spcBef>
                <a:spcPts val="400"/>
              </a:spcBef>
              <a:spcAft>
                <a:spcPts val="600"/>
              </a:spcAft>
              <a:lnSpc>
                <a:spcPct val="115000"/>
              </a:lnSpc>
            </a:pPr>
            <a:r>
              <a:rPr sz="1800" b="1">
                <a:solidFill>
                  <a:srgbClr val="1E508C"/>
                </a:solidFill>
                <a:latin typeface="Calibri"/>
              </a:rPr>
              <a:t>Research Foundations &amp; Standards :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0">
                <a:solidFill>
                  <a:srgbClr val="212529"/>
                </a:solidFill>
                <a:latin typeface="Calibri"/>
              </a:rPr>
              <a:t>NOAA Marine Debris Program: Acoustic side-scan sonar hazard characterization and benchmarks.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0">
                <a:solidFill>
                  <a:srgbClr val="212529"/>
                </a:solidFill>
                <a:latin typeface="Calibri"/>
              </a:rPr>
              <a:t>AI4Shipwrecks Benchmark: Multi-platform hydrographic seabed acoustic target datasets.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0">
                <a:solidFill>
                  <a:srgbClr val="212529"/>
                </a:solidFill>
                <a:latin typeface="Calibri"/>
              </a:rPr>
              <a:t>S. Reed et al., 'Automated Target Tracking and Detection in Sonar via Acoustic Shadows', IEEE Journal of Oceanic Engineering.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0">
                <a:solidFill>
                  <a:srgbClr val="212529"/>
                </a:solidFill>
                <a:latin typeface="Calibri"/>
              </a:rPr>
              <a:t>IHO Standards for Hydrographic Surveys (S-44): Object detection and hydrographic survey compliance.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188720"/>
            <a:ext cx="530352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563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 bIns="91440"/>
          <a:lstStyle/>
          <a:p>
            <a:pPr algn="l">
              <a:spcBef>
                <a:spcPts val="400"/>
              </a:spcBef>
              <a:spcAft>
                <a:spcPts val="600"/>
              </a:spcAft>
              <a:lnSpc>
                <a:spcPct val="115000"/>
              </a:lnSpc>
            </a:pPr>
            <a:r>
              <a:rPr sz="1800" b="1">
                <a:solidFill>
                  <a:srgbClr val="1E508C"/>
                </a:solidFill>
                <a:latin typeface="Calibri"/>
              </a:rPr>
              <a:t>Live Prototype &amp; Verification Deliverables :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0">
                <a:solidFill>
                  <a:srgbClr val="212529"/>
                </a:solidFill>
                <a:latin typeface="Calibri"/>
              </a:rPr>
              <a:t>Live Cloud Command Center: https://aquascan-deeptrace.streamlit.app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0">
                <a:solidFill>
                  <a:srgbClr val="212529"/>
                </a:solidFill>
                <a:latin typeface="Calibri"/>
              </a:rPr>
              <a:t>Open-Source GitHub Repository: https://github.com/dwivediaanchal8-design/SonarGuard-AI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0">
                <a:solidFill>
                  <a:srgbClr val="212529"/>
                </a:solidFill>
                <a:latin typeface="Calibri"/>
              </a:rPr>
              <a:t>Verified Latency Benchmark: 18.4 ms edge latency, 54 FPS throughput tested on real shipwreck sonar scans.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Char char="•"/>
              <a:lnSpc>
                <a:spcPct val="115000"/>
              </a:lnSpc>
            </a:pPr>
            <a:r>
              <a:rPr sz="1500" b="0">
                <a:solidFill>
                  <a:srgbClr val="212529"/>
                </a:solidFill>
                <a:latin typeface="Calibri"/>
              </a:rPr>
              <a:t>Operational Features: Real-time dual-view Lee/CLAHE filter inspection, dynamic geotagging, and 1-click GeoJSON export.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